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347" r:id="rId3"/>
    <p:sldId id="258" r:id="rId4"/>
    <p:sldId id="260" r:id="rId5"/>
    <p:sldId id="363" r:id="rId6"/>
    <p:sldId id="364" r:id="rId7"/>
    <p:sldId id="365" r:id="rId8"/>
    <p:sldId id="366" r:id="rId9"/>
    <p:sldId id="367" r:id="rId10"/>
    <p:sldId id="263" r:id="rId11"/>
    <p:sldId id="264" r:id="rId12"/>
    <p:sldId id="265" r:id="rId13"/>
    <p:sldId id="266" r:id="rId14"/>
    <p:sldId id="267" r:id="rId15"/>
    <p:sldId id="362" r:id="rId16"/>
    <p:sldId id="351" r:id="rId17"/>
    <p:sldId id="352" r:id="rId18"/>
    <p:sldId id="353" r:id="rId19"/>
    <p:sldId id="354" r:id="rId20"/>
    <p:sldId id="355" r:id="rId21"/>
    <p:sldId id="262" r:id="rId22"/>
    <p:sldId id="356" r:id="rId23"/>
    <p:sldId id="357" r:id="rId24"/>
    <p:sldId id="358" r:id="rId25"/>
    <p:sldId id="359" r:id="rId26"/>
    <p:sldId id="361" r:id="rId27"/>
    <p:sldId id="284" r:id="rId28"/>
    <p:sldId id="268" r:id="rId29"/>
    <p:sldId id="269" r:id="rId30"/>
    <p:sldId id="270" r:id="rId31"/>
    <p:sldId id="276" r:id="rId32"/>
    <p:sldId id="277" r:id="rId33"/>
    <p:sldId id="278" r:id="rId34"/>
    <p:sldId id="368" r:id="rId35"/>
    <p:sldId id="369" r:id="rId36"/>
    <p:sldId id="370" r:id="rId37"/>
    <p:sldId id="371" r:id="rId38"/>
    <p:sldId id="372" r:id="rId39"/>
    <p:sldId id="373" r:id="rId40"/>
    <p:sldId id="279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854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0363B-FAD5-4F9B-84E6-C06FBAAEC229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7D1E35-BFCF-4407-8CCC-C6A2422C7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722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412CF-0A97-D6E9-08A7-94B404CA0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EF4C72-1FF5-95FF-2EF5-016E4E776A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A4C1B-20B9-D303-48D5-5152F3EC9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0320-3EA4-D740-5867-EAF5C6D9F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17687-1800-6FBB-6366-35F680C7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881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45846-BF1A-FDA3-AF21-CBDF3817E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5D219-9850-A749-A812-DCC6A050A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E396F-1B23-F3A3-0511-71220548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DEF52-9446-668B-36C9-2DBE413EC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B32EA-BB8E-1A78-E352-195F8DE4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929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34D0-95D6-2A03-AEFF-31BFE64BD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41E04-482B-9185-BE1B-F30C178B7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69F5A-895A-3E20-0F99-18FC81F59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99B35-6AE6-0716-0A3B-488AE99C9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CC7CD-8462-7600-CB80-9ADFC4A59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479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1805A-E41A-7AD3-9215-E24984304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7EFB5-C607-A863-1696-A0DCDD2A6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BF1F4-07D4-6A3A-23A7-7F12DC4E7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76EC5-E88E-A84C-B7F6-A24DA323C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D5988-64CC-0BEF-4262-41FDF2C69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38D28-03B2-C58F-3362-A1606E2F0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360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48FA1-C0E2-F799-F99A-14B661670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BE08B-D183-C98F-15F4-3923564B4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C617D-6738-8322-64CF-3306D9E90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C13EF-8921-21AF-446E-43A50265D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2E4F52-35E7-61A4-8AF5-CC7A3A980A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5B8D9-D5AA-5FBB-6C8B-94BD962B9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C2B31D-3BC9-100D-3FFE-311A0E85A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47A129-04E8-C66F-66B9-C93EBD40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316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4F029-C3BC-0946-5B46-27A62C277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CEDA22-AFE9-0D01-CE95-7689B19E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270DA7-E55B-3D04-08C6-1A5D4AC69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A3DB6-CC78-4E99-BF39-B6631CF5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364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2D5020-86FF-29D2-CF0B-41FA1C497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12C0C5-2392-1961-1D1D-25D58044F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6E48B-1C67-4D12-8E10-27AC939F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798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6C026-103E-B109-AB8C-6D44A515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64F4-13F5-17BC-858F-A91D84A40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961AB-963E-1504-72A4-A1AB17056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23EF0-71CA-2AA7-FBD0-CEDA44B0D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5D4D8-83C7-F4C3-84E7-A35FB3495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641F8-F4E2-CAA8-4C5E-A526C2227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029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BA75A-F806-44FF-F25C-125C9BF22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D945C1-A2FF-5B51-8FCC-CD265E642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4E7DE-6EF8-8E36-0FA4-D6C69C648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B6497-FC12-FC5C-D1BE-CB3468C57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604F6-DC90-44B8-7B77-6063A2FEE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ADB8FD-00F8-B052-388B-DA323B88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949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979D5-D78B-51A4-D507-10241BD86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20A1C5-E115-C982-D300-680CB9BCF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8A9CA-6D71-4F05-0745-C5908856A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3D602-75B8-A654-AB57-B81FC5305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8E863-DEB4-4044-F68B-76F80BE5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37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A36B2D-9F42-4E6C-811E-EBB1C46CF7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B7E0C-5FD8-5909-7828-CFF87FAF9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09456-A7F9-B919-EDFF-77A9B8A48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707C0-423A-49F8-7B06-1915C0E0A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6D5D8-78EF-1E5F-018E-6A0B3F2C1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789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C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C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95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3E9012-068E-580E-8B8F-2451EB4A5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532D6-39DA-958D-51DB-1D71DCBEE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65381-025A-C3E2-9A48-96CFE8B98D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816CEB-1072-4B22-A473-588D7AF62EB2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5B3F-F87A-E427-9837-304E169A5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87EC7-7BD1-4047-A8C3-498FD35E1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42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tiktokenizer.vercel.app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894A6-782C-8F51-A9DF-4689E41169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Enablement for GenAI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D74966-FA16-5CAA-CCE3-6756118C0F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Ajay J Singala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7416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103" y="1244660"/>
            <a:ext cx="4693742" cy="586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583"/>
              </a:lnSpc>
            </a:pPr>
            <a:r>
              <a:rPr lang="en-US" sz="3708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</a:rPr>
              <a:t>Ajay J. Singala</a:t>
            </a:r>
            <a:r>
              <a:rPr lang="en-US" sz="3667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​</a:t>
            </a:r>
            <a:endParaRPr lang="en-US" sz="3667" dirty="0"/>
          </a:p>
        </p:txBody>
      </p:sp>
      <p:sp>
        <p:nvSpPr>
          <p:cNvPr id="7" name="Text 4"/>
          <p:cNvSpPr/>
          <p:nvPr/>
        </p:nvSpPr>
        <p:spPr>
          <a:xfrm>
            <a:off x="698103" y="5200452"/>
            <a:ext cx="2816225" cy="35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endParaRPr lang="en-US" sz="2208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190121C-41BB-F374-06CB-8E7F4EA7F23D}"/>
              </a:ext>
            </a:extLst>
          </p:cNvPr>
          <p:cNvSpPr txBox="1">
            <a:spLocks/>
          </p:cNvSpPr>
          <p:nvPr/>
        </p:nvSpPr>
        <p:spPr>
          <a:xfrm>
            <a:off x="665480" y="1825625"/>
            <a:ext cx="665988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IN" sz="2000" dirty="0"/>
              <a:t>&gt;30 years of experience​.</a:t>
            </a:r>
          </a:p>
          <a:p>
            <a:endParaRPr lang="en-IN" sz="2000" dirty="0"/>
          </a:p>
          <a:p>
            <a:pPr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IN" sz="2000" dirty="0"/>
              <a:t>Enterprise / Solution Architect, Trainer, Mentor, ex-CTO.</a:t>
            </a:r>
          </a:p>
          <a:p>
            <a:endParaRPr lang="en-IN" sz="2000" dirty="0"/>
          </a:p>
          <a:p>
            <a:pPr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en-IN" sz="2000" dirty="0"/>
              <a:t>Tech Stack: Microsoft, Azure, AWS, Big Data, AI/ML/DL/Gen AI/Agentic AI.​</a:t>
            </a:r>
          </a:p>
          <a:p>
            <a:endParaRPr lang="en-IN" sz="2000" dirty="0"/>
          </a:p>
          <a:p>
            <a:pPr>
              <a:buBlip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</a:pPr>
            <a:r>
              <a:rPr lang="en-IN" sz="2000" dirty="0"/>
              <a:t>Formula 1 Racing, Gamer, Travel, Photography, Souvenirs, Coins, Fridge Magnets, Shot Glasses, Keychains (not necessarily in this order)​.</a:t>
            </a:r>
          </a:p>
          <a:p>
            <a:endParaRPr lang="en-IN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C374A9-1785-AE64-2B0A-D1C59FC72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LLM Interaction Basics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F5BD1-2BC9-18E1-BE9F-FC9DE6E25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5006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3BCE3-7B1C-5E95-CD14-3CF37A3F4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DA47F-D655-75C4-F442-26A4D35F3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829A3-C8B3-8A49-8264-01B354A73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Prompt Structure</a:t>
            </a:r>
          </a:p>
          <a:p>
            <a:r>
              <a:rPr lang="en-IN" dirty="0"/>
              <a:t>LLM intuition (tokens, context, probability — simplified)</a:t>
            </a:r>
          </a:p>
          <a:p>
            <a:r>
              <a:rPr lang="en-IN" dirty="0"/>
              <a:t>Capabilities vs limitations (hallucination, reliability)</a:t>
            </a:r>
          </a:p>
          <a:p>
            <a:r>
              <a:rPr lang="en-IN" dirty="0"/>
              <a:t>Context engineering (instructions, constraints, examples)</a:t>
            </a:r>
          </a:p>
          <a:p>
            <a:r>
              <a:rPr lang="en-IN" dirty="0"/>
              <a:t>Robust Gen AI Calls</a:t>
            </a:r>
          </a:p>
          <a:p>
            <a:r>
              <a:rPr lang="en-IN" dirty="0"/>
              <a:t>Text Generation Pipeline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3080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8A942D-2E21-2058-BC5D-DBBBDF8CD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D187F80-4478-DBEB-51BD-610FBF506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603124-78CE-F299-A445-73D2C5662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8000" dirty="0"/>
              <a:t>Prompt Structure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30047539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B955E-20C3-6CC5-A830-C42184603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4E73-72CA-B992-B587-F8AD0637A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Prompt Structure?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F2B23-EDC7-04FE-E44A-C53FF51CA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prompt is </a:t>
            </a:r>
            <a:r>
              <a:rPr lang="en-US" b="1" dirty="0"/>
              <a:t>not just one sentence</a:t>
            </a:r>
            <a:r>
              <a:rPr lang="en-US" dirty="0"/>
              <a:t> — it is typically composed of </a:t>
            </a:r>
            <a:r>
              <a:rPr lang="en-US" b="1" dirty="0"/>
              <a:t>different roles</a:t>
            </a:r>
            <a:r>
              <a:rPr lang="en-US" dirty="0"/>
              <a:t>, each serving a purpose.</a:t>
            </a:r>
          </a:p>
          <a:p>
            <a:r>
              <a:rPr lang="en-US" dirty="0"/>
              <a:t>At a minimum:</a:t>
            </a:r>
          </a:p>
          <a:p>
            <a:pPr marL="0" indent="0">
              <a:buNone/>
            </a:pP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[System Instruction] + [User Input] → [AI Response]</a:t>
            </a:r>
          </a:p>
          <a:p>
            <a:endParaRPr lang="en-IN" dirty="0"/>
          </a:p>
          <a:p>
            <a:r>
              <a:rPr lang="en-US" b="1" dirty="0"/>
              <a:t>Core Components of a Prompt:</a:t>
            </a:r>
          </a:p>
          <a:p>
            <a:pPr lvl="1"/>
            <a:r>
              <a:rPr lang="en-US" dirty="0"/>
              <a:t>System Instruction (Role / Behavior)</a:t>
            </a:r>
          </a:p>
          <a:p>
            <a:pPr lvl="1"/>
            <a:r>
              <a:rPr lang="en-IN" dirty="0"/>
              <a:t>User Input (Task / Query)</a:t>
            </a:r>
          </a:p>
          <a:p>
            <a:pPr lvl="1"/>
            <a:r>
              <a:rPr lang="en-IN" dirty="0"/>
              <a:t>Context / Data</a:t>
            </a:r>
          </a:p>
          <a:p>
            <a:pPr lvl="1"/>
            <a:r>
              <a:rPr lang="en-IN" dirty="0"/>
              <a:t>Output Instructions </a:t>
            </a:r>
          </a:p>
        </p:txBody>
      </p:sp>
    </p:spTree>
    <p:extLst>
      <p:ext uri="{BB962C8B-B14F-4D97-AF65-F5344CB8AC3E}">
        <p14:creationId xmlns:p14="http://schemas.microsoft.com/office/powerpoint/2010/main" val="1542051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A921D-6D21-A3F0-1976-3DEB9B864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0E33-9CFB-6D65-59BB-F8C12EFB0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Components of a Prompt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D1D31-E0C2-4672-A9AF-A4FFF64C8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System Instruction (Role / Behavior)</a:t>
            </a:r>
          </a:p>
          <a:p>
            <a:pPr lvl="1"/>
            <a:r>
              <a:rPr lang="en-US" dirty="0"/>
              <a:t>Defines </a:t>
            </a:r>
            <a:r>
              <a:rPr lang="en-US" b="1" dirty="0"/>
              <a:t>how the AI should behave</a:t>
            </a:r>
            <a:endParaRPr lang="en-US" dirty="0"/>
          </a:p>
          <a:p>
            <a:pPr lvl="1"/>
            <a:r>
              <a:rPr lang="en-US" dirty="0"/>
              <a:t>Sets tone, expertise, boundaries </a:t>
            </a:r>
          </a:p>
          <a:p>
            <a:pPr lvl="1"/>
            <a:r>
              <a:rPr lang="en-US" dirty="0"/>
              <a:t>Usually hidden from end user </a:t>
            </a:r>
          </a:p>
          <a:p>
            <a:pPr lvl="1"/>
            <a:r>
              <a:rPr lang="en-US" dirty="0"/>
              <a:t>Most important for consistency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Example: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You are a senior internal audit expert.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Focus on identifying risks, control gaps, and compliance issues.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Provide concise, actionable insights.</a:t>
            </a:r>
          </a:p>
          <a:p>
            <a:pPr lvl="1"/>
            <a:endParaRPr lang="en-US" dirty="0"/>
          </a:p>
          <a:p>
            <a:r>
              <a:rPr lang="en-IN" b="1" dirty="0"/>
              <a:t>User Input (Task / Query)</a:t>
            </a:r>
          </a:p>
          <a:p>
            <a:pPr lvl="1"/>
            <a:r>
              <a:rPr lang="en-US" dirty="0"/>
              <a:t>What the user actually wants</a:t>
            </a:r>
          </a:p>
          <a:p>
            <a:pPr lvl="1"/>
            <a:r>
              <a:rPr lang="en-US" dirty="0"/>
              <a:t>Question, instruction, or data </a:t>
            </a:r>
          </a:p>
          <a:p>
            <a:pPr lvl="1"/>
            <a:r>
              <a:rPr lang="en-US" dirty="0"/>
              <a:t>Can include context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Example: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Analyze the following transaction and identify risks:</a:t>
            </a:r>
            <a:b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Transaction ID: 1023  </a:t>
            </a:r>
            <a:b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Amount: $25,000  </a:t>
            </a:r>
            <a:b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Flag: Duplicate entry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9123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7A5ED-8D4C-0719-C947-77CEC30ED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82FBE-A30E-7EC3-615A-E14D3C591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Components of a Prompt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12F93-1F6C-D948-4B4B-AD38DD0F9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b="1" dirty="0"/>
              <a:t>Context / Data</a:t>
            </a:r>
          </a:p>
          <a:p>
            <a:pPr lvl="1"/>
            <a:r>
              <a:rPr lang="en-US" dirty="0"/>
              <a:t>Additional information to improve response quality</a:t>
            </a:r>
          </a:p>
          <a:p>
            <a:pPr lvl="1"/>
            <a:r>
              <a:rPr lang="en-US" dirty="0"/>
              <a:t>Documents </a:t>
            </a:r>
          </a:p>
          <a:p>
            <a:pPr lvl="1"/>
            <a:r>
              <a:rPr lang="en-US" dirty="0"/>
              <a:t>Logs </a:t>
            </a:r>
          </a:p>
          <a:p>
            <a:pPr lvl="1"/>
            <a:r>
              <a:rPr lang="en-US" dirty="0"/>
              <a:t>Tables </a:t>
            </a:r>
          </a:p>
          <a:p>
            <a:pPr lvl="1"/>
            <a:r>
              <a:rPr lang="en-US" dirty="0"/>
              <a:t>Past conversation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Example: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Context:</a:t>
            </a:r>
            <a:b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- Duplicate transactions were flagged in the last audit</a:t>
            </a:r>
            <a:b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- Threshold for high-risk is &gt; $10,000</a:t>
            </a:r>
          </a:p>
          <a:p>
            <a:endParaRPr lang="en-IN" dirty="0"/>
          </a:p>
          <a:p>
            <a:r>
              <a:rPr lang="en-IN" b="1" dirty="0"/>
              <a:t>Output Instructions </a:t>
            </a:r>
          </a:p>
          <a:p>
            <a:pPr lvl="1"/>
            <a:r>
              <a:rPr lang="en-US" dirty="0"/>
              <a:t>Defines </a:t>
            </a:r>
            <a:r>
              <a:rPr lang="en-US" b="1" dirty="0"/>
              <a:t>how the answer should be structured</a:t>
            </a:r>
            <a:endParaRPr lang="en-US" dirty="0"/>
          </a:p>
          <a:p>
            <a:pPr lvl="1"/>
            <a:r>
              <a:rPr lang="en-US" dirty="0"/>
              <a:t>Format </a:t>
            </a:r>
          </a:p>
          <a:p>
            <a:pPr lvl="1"/>
            <a:r>
              <a:rPr lang="en-US" dirty="0"/>
              <a:t>Length </a:t>
            </a:r>
          </a:p>
          <a:p>
            <a:pPr lvl="1"/>
            <a:r>
              <a:rPr lang="en-US" dirty="0"/>
              <a:t>Style </a:t>
            </a:r>
          </a:p>
          <a:p>
            <a:pPr lvl="1"/>
            <a:r>
              <a:rPr lang="en-US" b="1" dirty="0"/>
              <a:t>Example: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Provide output in the following format:</a:t>
            </a:r>
            <a:b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1. Risk Level</a:t>
            </a:r>
            <a:b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2. Key Issue</a:t>
            </a:r>
            <a:b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3. Recommendation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118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5991E-BB81-8E6B-4A69-F3932E0BB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All Together (Structured Prompt)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3A4D2-0F71-1D14-833D-8D92F3B4A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1160" cy="435133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dirty="0"/>
              <a:t>✅</a:t>
            </a:r>
            <a:r>
              <a:rPr lang="en-US" sz="2400" b="1" dirty="0"/>
              <a:t>Good Prompt:</a:t>
            </a:r>
          </a:p>
          <a:p>
            <a:pPr marL="0" indent="0">
              <a:buNone/>
            </a:pPr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You are a senior internal audit expert.</a:t>
            </a:r>
            <a:b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Analyze the following transaction:</a:t>
            </a:r>
            <a:b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Transaction ID: 1023 </a:t>
            </a:r>
            <a:b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Amount: $25,000 </a:t>
            </a:r>
            <a:b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Flag: Duplicate entry </a:t>
            </a:r>
            <a:b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Context:</a:t>
            </a:r>
            <a:b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- Duplicate transactions are considered high risk</a:t>
            </a:r>
            <a:b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- Threshold is $10,000</a:t>
            </a:r>
            <a:b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Provide output in this format:</a:t>
            </a:r>
            <a:b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1. Risk Level</a:t>
            </a:r>
            <a:b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2. Key Issue</a:t>
            </a:r>
            <a:b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3. Recommendation</a:t>
            </a:r>
            <a:endParaRPr lang="en-IN" sz="2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36912EB-8CF7-22C2-1B71-94AE47F00F65}"/>
              </a:ext>
            </a:extLst>
          </p:cNvPr>
          <p:cNvSpPr txBox="1">
            <a:spLocks/>
          </p:cNvSpPr>
          <p:nvPr/>
        </p:nvSpPr>
        <p:spPr>
          <a:xfrm>
            <a:off x="7579360" y="1825625"/>
            <a:ext cx="3774440" cy="43513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❌ Weak Prompt</a:t>
            </a:r>
          </a:p>
          <a:p>
            <a:pPr marL="0" indent="0">
              <a:buNone/>
            </a:pPr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Check this transaction.</a:t>
            </a:r>
          </a:p>
          <a:p>
            <a:endParaRPr lang="en-US" sz="2400" dirty="0"/>
          </a:p>
          <a:p>
            <a:pPr lvl="1"/>
            <a:r>
              <a:rPr lang="en-US" sz="2000" dirty="0"/>
              <a:t>Problems:</a:t>
            </a:r>
          </a:p>
          <a:p>
            <a:pPr lvl="2"/>
            <a:r>
              <a:rPr lang="en-US" sz="1600" dirty="0"/>
              <a:t>No role </a:t>
            </a:r>
          </a:p>
          <a:p>
            <a:pPr lvl="2"/>
            <a:r>
              <a:rPr lang="en-US" sz="1600" dirty="0"/>
              <a:t>No context </a:t>
            </a:r>
          </a:p>
          <a:p>
            <a:pPr lvl="2"/>
            <a:r>
              <a:rPr lang="en-US" sz="1600" dirty="0"/>
              <a:t>No structure </a:t>
            </a:r>
          </a:p>
          <a:p>
            <a:pPr lvl="2"/>
            <a:r>
              <a:rPr lang="en-US" sz="1600" dirty="0"/>
              <a:t>Output will be inconsistent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826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6B3F8E-34C7-95B0-3CA4-967982868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5A3B026-A2EE-A04A-C104-EE1E17335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21CC06-629C-4F31-7739-78701015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8000" dirty="0"/>
              <a:t>LLM Intuition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39914293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7B3EF-CD3D-4590-235B-9925EBC74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LLM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58721-9970-2E05-F111-D428726E1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Core Idea</a:t>
            </a:r>
          </a:p>
          <a:p>
            <a:pPr lvl="1"/>
            <a:r>
              <a:rPr lang="en-US" dirty="0"/>
              <a:t>LLMs don’t “understand” like humans—they </a:t>
            </a:r>
            <a:r>
              <a:rPr lang="en-US" b="1" dirty="0"/>
              <a:t>predict the next word/token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b="1" dirty="0"/>
              <a:t>How?</a:t>
            </a:r>
            <a:endParaRPr lang="en-IN" b="1" dirty="0"/>
          </a:p>
          <a:p>
            <a:pPr lvl="1"/>
            <a:r>
              <a:rPr lang="en-IN" dirty="0"/>
              <a:t>Tokens</a:t>
            </a:r>
          </a:p>
          <a:p>
            <a:pPr lvl="1"/>
            <a:r>
              <a:rPr lang="en-IN" dirty="0"/>
              <a:t>Context</a:t>
            </a:r>
          </a:p>
          <a:p>
            <a:pPr lvl="1"/>
            <a:r>
              <a:rPr lang="en-IN" dirty="0"/>
              <a:t>Probability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4975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19DBD-3318-2557-FE3C-3B35F9DC5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378AC-7900-7275-A7F5-54DC9106F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LLM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ECF27-1863-E37B-5577-7CD4207DE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Tokens</a:t>
            </a:r>
          </a:p>
          <a:p>
            <a:pPr lvl="1"/>
            <a:r>
              <a:rPr lang="en-US" b="1" dirty="0"/>
              <a:t>Think: Lego blocks of language</a:t>
            </a:r>
          </a:p>
          <a:p>
            <a:pPr lvl="2"/>
            <a:r>
              <a:rPr lang="en-US" dirty="0"/>
              <a:t>Words are broken into pieces (tokens)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Example: </a:t>
            </a:r>
          </a:p>
          <a:p>
            <a:pPr lvl="2"/>
            <a:r>
              <a:rPr lang="en-US" dirty="0"/>
              <a:t>“Insurance claim fraud detection” → ["Insurance", " claim", " fraud", " detection"]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Pricing, limits, and performance depend on token usage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https://tiktokenizer.vercel.app/</a:t>
            </a:r>
            <a:r>
              <a:rPr lang="en-US" dirty="0"/>
              <a:t> 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9213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5A459-4C3A-CA04-CAE1-18D5432C8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8CF75-CFAC-FE0F-B823-13628E7CE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LLM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93ABF-2411-785B-B992-3A6B9739C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Context (Short-term memory)</a:t>
            </a:r>
          </a:p>
          <a:p>
            <a:pPr lvl="1"/>
            <a:r>
              <a:rPr lang="en-US" dirty="0"/>
              <a:t>Everything you give in a prompt = context </a:t>
            </a:r>
          </a:p>
          <a:p>
            <a:pPr lvl="1"/>
            <a:r>
              <a:rPr lang="en-US" dirty="0"/>
              <a:t>Model uses it to decide response </a:t>
            </a:r>
          </a:p>
          <a:p>
            <a:pPr lvl="1"/>
            <a:r>
              <a:rPr lang="en-US" dirty="0"/>
              <a:t>More relevant context = better output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</a:t>
            </a:r>
          </a:p>
          <a:p>
            <a:pPr lvl="2"/>
            <a:r>
              <a:rPr lang="en-US" dirty="0"/>
              <a:t>Bad:</a:t>
            </a:r>
          </a:p>
          <a:p>
            <a:pPr marL="1371600" lvl="3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“Summarize this report”</a:t>
            </a:r>
          </a:p>
          <a:p>
            <a:pPr lvl="2"/>
            <a:r>
              <a:rPr lang="en-US" dirty="0"/>
              <a:t>Better:</a:t>
            </a:r>
          </a:p>
          <a:p>
            <a:pPr marL="1371600" lvl="3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“Summarize this audit report for a CFO in 5 bullet points focusing on risks”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4897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67804-21A3-10A1-BB03-BF7E383C9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C74DD-9E66-7186-21B4-ED1CFBF06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LLM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31BA1-E020-E0F6-7C3F-A09EF08EE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Probability (Next-word prediction)</a:t>
            </a:r>
          </a:p>
          <a:p>
            <a:pPr lvl="1"/>
            <a:r>
              <a:rPr lang="en-US" dirty="0"/>
              <a:t>Model predicts:</a:t>
            </a:r>
          </a:p>
          <a:p>
            <a:pPr lvl="2"/>
            <a:r>
              <a:rPr lang="en-US" dirty="0"/>
              <a:t>“What word is most likely next?”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Example: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“The claim was rejected due to ___”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Could be: “fraud”, “incomplete documents”, “policy lapse” </a:t>
            </a:r>
          </a:p>
          <a:p>
            <a:pPr lvl="2"/>
            <a:r>
              <a:rPr lang="en-US" dirty="0"/>
              <a:t>Output is based on </a:t>
            </a:r>
            <a:r>
              <a:rPr lang="en-US" b="1" dirty="0"/>
              <a:t>likelihood, not truth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More examples:</a:t>
            </a:r>
          </a:p>
          <a:p>
            <a:pPr lvl="2"/>
            <a:r>
              <a:rPr lang="en-US" dirty="0"/>
              <a:t>Ex.1:</a:t>
            </a:r>
          </a:p>
          <a:p>
            <a:pPr marL="1371600" lvl="3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“List 5 possible ways to complete this sentence:</a:t>
            </a:r>
          </a:p>
          <a:p>
            <a:pPr marL="1371600" lvl="3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The audit failed due to ___”</a:t>
            </a:r>
          </a:p>
          <a:p>
            <a:pPr lvl="2"/>
            <a:endParaRPr lang="en-US" dirty="0">
              <a:cs typeface="Cascadia Code" panose="020B0609020000020004" pitchFamily="49" charset="0"/>
            </a:endParaRPr>
          </a:p>
          <a:p>
            <a:pPr lvl="2"/>
            <a:r>
              <a:rPr lang="en-US" dirty="0">
                <a:cs typeface="Cascadia Code" panose="020B0609020000020004" pitchFamily="49" charset="0"/>
              </a:rPr>
              <a:t>Ex.2: Run multiple times:</a:t>
            </a:r>
          </a:p>
          <a:p>
            <a:pPr marL="1371600" lvl="3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“Write one sentence explaining why a claim might be rejected.”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Ex. 3:</a:t>
            </a:r>
          </a:p>
          <a:p>
            <a:pPr marL="1371600" lvl="3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“Complete this step-by-step by predicting one word at a time: </a:t>
            </a:r>
          </a:p>
          <a:p>
            <a:pPr marL="1371600" lvl="3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‘The policyholder submitted a claim for…’”</a:t>
            </a:r>
          </a:p>
          <a:p>
            <a:pPr lvl="3"/>
            <a:r>
              <a:rPr lang="en-US" dirty="0"/>
              <a:t>Then keep prompting:</a:t>
            </a:r>
          </a:p>
          <a:p>
            <a:pPr marL="1371600" lvl="3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“What is the next most likely word?”</a:t>
            </a:r>
          </a:p>
          <a:p>
            <a:pPr lvl="2"/>
            <a:endParaRPr lang="en-US" dirty="0"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479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51604-94C2-0057-9090-F95DB96E2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D3873D-26ED-2E09-95C0-7D6E9FF97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DBCDA0-2DD9-485E-A179-4010D0C1A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8000" dirty="0"/>
              <a:t>LLM Internals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29692414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3E698-E2EE-8AFE-E161-1E1A73F20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LLM Internals Recap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FF232-A40C-85CD-F783-B7A77850F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Tokens</a:t>
            </a:r>
          </a:p>
          <a:p>
            <a:r>
              <a:rPr lang="en-US" dirty="0"/>
              <a:t>Context Window</a:t>
            </a:r>
          </a:p>
          <a:p>
            <a:r>
              <a:rPr lang="en-US" dirty="0"/>
              <a:t>Inference</a:t>
            </a:r>
          </a:p>
          <a:p>
            <a:r>
              <a:rPr lang="en-US" dirty="0"/>
              <a:t>Sampling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08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5C980-9AC7-A442-CF80-D6AD0BAE1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64D1F-814C-B988-3343-31D2242AD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Tokens </a:t>
            </a:r>
            <a:r>
              <a:rPr lang="en-US" dirty="0"/>
              <a:t>- The Language Units LLMs Understand </a:t>
            </a:r>
          </a:p>
          <a:p>
            <a:r>
              <a:rPr lang="en-US" dirty="0"/>
              <a:t>LLMs do </a:t>
            </a:r>
            <a:r>
              <a:rPr lang="en-US" b="1" dirty="0"/>
              <a:t>not read words or sentences directly</a:t>
            </a:r>
            <a:r>
              <a:rPr lang="en-US" dirty="0"/>
              <a:t>. They process </a:t>
            </a:r>
            <a:r>
              <a:rPr lang="en-US" b="1" dirty="0"/>
              <a:t>tokens</a:t>
            </a:r>
            <a:r>
              <a:rPr lang="en-US" dirty="0"/>
              <a:t>, which are small pieces of text.</a:t>
            </a:r>
          </a:p>
          <a:p>
            <a:r>
              <a:rPr lang="en-US" dirty="0"/>
              <a:t>A </a:t>
            </a:r>
            <a:r>
              <a:rPr lang="en-US" b="1" dirty="0"/>
              <a:t>token</a:t>
            </a:r>
            <a:r>
              <a:rPr lang="en-US" dirty="0"/>
              <a:t> can be:</a:t>
            </a:r>
          </a:p>
          <a:p>
            <a:pPr lvl="1"/>
            <a:r>
              <a:rPr lang="en-US" dirty="0"/>
              <a:t>a word</a:t>
            </a:r>
          </a:p>
          <a:p>
            <a:pPr lvl="1"/>
            <a:r>
              <a:rPr lang="en-US" dirty="0"/>
              <a:t>part of a word</a:t>
            </a:r>
          </a:p>
          <a:p>
            <a:pPr lvl="1"/>
            <a:r>
              <a:rPr lang="en-US" dirty="0"/>
              <a:t>punctuation</a:t>
            </a:r>
          </a:p>
          <a:p>
            <a:pPr lvl="1"/>
            <a:r>
              <a:rPr lang="en-US" dirty="0"/>
              <a:t>special characters</a:t>
            </a:r>
          </a:p>
          <a:p>
            <a:endParaRPr lang="en-US" dirty="0"/>
          </a:p>
          <a:p>
            <a:r>
              <a:rPr lang="en-US" dirty="0"/>
              <a:t>Example sentence: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AI is transforming business.</a:t>
            </a:r>
          </a:p>
          <a:p>
            <a:endParaRPr lang="en-US" dirty="0"/>
          </a:p>
          <a:p>
            <a:r>
              <a:rPr lang="en-US" dirty="0"/>
              <a:t>Tokens may look like: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AI | is | transforming | business | 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610023-D20F-7FA0-5313-48FC0FB2D46F}"/>
              </a:ext>
            </a:extLst>
          </p:cNvPr>
          <p:cNvGraphicFramePr>
            <a:graphicFrameLocks noGrp="1"/>
          </p:cNvGraphicFramePr>
          <p:nvPr/>
        </p:nvGraphicFramePr>
        <p:xfrm>
          <a:off x="6863080" y="3108643"/>
          <a:ext cx="4490720" cy="182880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2245360">
                  <a:extLst>
                    <a:ext uri="{9D8B030D-6E8A-4147-A177-3AD203B41FA5}">
                      <a16:colId xmlns:a16="http://schemas.microsoft.com/office/drawing/2014/main" val="1138057422"/>
                    </a:ext>
                  </a:extLst>
                </a:gridCol>
                <a:gridCol w="2245360">
                  <a:extLst>
                    <a:ext uri="{9D8B030D-6E8A-4147-A177-3AD203B41FA5}">
                      <a16:colId xmlns:a16="http://schemas.microsoft.com/office/drawing/2014/main" val="4301685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Tokens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5562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Hello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Hello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9108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ChatGPT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Chat GPT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1373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run 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9657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$100.50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$ 100 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210894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36DD362-D57C-EF67-0585-87EA1D7E6A65}"/>
              </a:ext>
            </a:extLst>
          </p:cNvPr>
          <p:cNvSpPr txBox="1"/>
          <p:nvPr/>
        </p:nvSpPr>
        <p:spPr>
          <a:xfrm>
            <a:off x="6776720" y="2739311"/>
            <a:ext cx="4577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Examples:</a:t>
            </a:r>
          </a:p>
        </p:txBody>
      </p:sp>
    </p:spTree>
    <p:extLst>
      <p:ext uri="{BB962C8B-B14F-4D97-AF65-F5344CB8AC3E}">
        <p14:creationId xmlns:p14="http://schemas.microsoft.com/office/powerpoint/2010/main" val="6424700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0DDB6-6152-4D13-A545-70C1298FE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3FB4C-B6EB-5058-E5E7-EE6B4CE39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Rough Token Rule</a:t>
            </a:r>
          </a:p>
          <a:p>
            <a:pPr lvl="1"/>
            <a:r>
              <a:rPr lang="en-US" dirty="0"/>
              <a:t>Helpful approximation: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1 token ≈ 4 characters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100 tokens ≈ 75 words (1 token ≈ 0.75 word)</a:t>
            </a:r>
          </a:p>
          <a:p>
            <a:endParaRPr lang="en-US" b="1" dirty="0"/>
          </a:p>
          <a:p>
            <a:r>
              <a:rPr lang="en-US" b="1" dirty="0"/>
              <a:t>Why Tokens Matter</a:t>
            </a:r>
          </a:p>
          <a:p>
            <a:pPr lvl="1"/>
            <a:r>
              <a:rPr lang="en-US" dirty="0"/>
              <a:t>Tokens affect:</a:t>
            </a:r>
          </a:p>
          <a:p>
            <a:pPr lvl="1"/>
            <a:r>
              <a:rPr lang="en-US" b="1" dirty="0"/>
              <a:t>Cost</a:t>
            </a:r>
            <a:endParaRPr lang="en-US" dirty="0"/>
          </a:p>
          <a:p>
            <a:pPr lvl="2"/>
            <a:r>
              <a:rPr lang="en-US" dirty="0"/>
              <a:t>Most APIs charge </a:t>
            </a:r>
            <a:r>
              <a:rPr lang="en-US" b="1" dirty="0"/>
              <a:t>per token</a:t>
            </a:r>
            <a:endParaRPr lang="en-US" dirty="0"/>
          </a:p>
          <a:p>
            <a:pPr lvl="1"/>
            <a:r>
              <a:rPr lang="en-US" b="1" dirty="0"/>
              <a:t>Context size</a:t>
            </a:r>
            <a:endParaRPr lang="en-US" dirty="0"/>
          </a:p>
          <a:p>
            <a:pPr lvl="2"/>
            <a:r>
              <a:rPr lang="en-US" dirty="0"/>
              <a:t>Maximum tokens an LLM can read</a:t>
            </a:r>
          </a:p>
          <a:p>
            <a:pPr lvl="1"/>
            <a:r>
              <a:rPr lang="en-US" b="1" dirty="0"/>
              <a:t>Output length</a:t>
            </a:r>
          </a:p>
          <a:p>
            <a:pPr lvl="2"/>
            <a:r>
              <a:rPr lang="en-US" dirty="0"/>
              <a:t>Maximum tokens available for output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17100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C4C89-C66E-B85A-8B79-EF558F47D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1767C-B999-DE83-233A-91CAB0884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Context Window</a:t>
            </a:r>
            <a:r>
              <a:rPr lang="en-US" dirty="0"/>
              <a:t> is the Model’s Working Memory.</a:t>
            </a:r>
          </a:p>
          <a:p>
            <a:r>
              <a:rPr lang="en-US" dirty="0"/>
              <a:t>The </a:t>
            </a:r>
            <a:r>
              <a:rPr lang="en-US" b="1" dirty="0"/>
              <a:t>context window</a:t>
            </a:r>
            <a:r>
              <a:rPr lang="en-US" dirty="0"/>
              <a:t> is the </a:t>
            </a:r>
            <a:r>
              <a:rPr lang="en-US" b="1" dirty="0"/>
              <a:t>maximum number of tokens the model can process at one time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Think of it as: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The model’s short-term memory.</a:t>
            </a:r>
          </a:p>
          <a:p>
            <a:endParaRPr lang="en-US" dirty="0"/>
          </a:p>
          <a:p>
            <a:r>
              <a:rPr lang="en-US" dirty="0"/>
              <a:t>Everything inside the context window includes:</a:t>
            </a:r>
          </a:p>
          <a:p>
            <a:pPr lvl="1"/>
            <a:r>
              <a:rPr lang="en-US" dirty="0"/>
              <a:t>System prompt</a:t>
            </a:r>
          </a:p>
          <a:p>
            <a:pPr lvl="1"/>
            <a:r>
              <a:rPr lang="en-US" dirty="0"/>
              <a:t>User prompt</a:t>
            </a:r>
          </a:p>
          <a:p>
            <a:pPr lvl="1"/>
            <a:r>
              <a:rPr lang="en-US" dirty="0"/>
              <a:t>Retrieved documents (RAG)</a:t>
            </a:r>
          </a:p>
          <a:p>
            <a:pPr lvl="1"/>
            <a:r>
              <a:rPr lang="en-US" dirty="0"/>
              <a:t>Conversation history</a:t>
            </a:r>
          </a:p>
          <a:p>
            <a:pPr lvl="1"/>
            <a:r>
              <a:rPr lang="en-US" dirty="0"/>
              <a:t>Generated response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5283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F4EE3-A407-E381-9034-D78BCB267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D80E4-2E7C-0240-C164-C13C382BD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97CC3-F974-3552-48EA-C9F48104C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81320" cy="435133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Example</a:t>
            </a:r>
          </a:p>
          <a:p>
            <a:pPr lvl="1"/>
            <a:r>
              <a:rPr lang="en-US" dirty="0">
                <a:cs typeface="Cascadia Code" panose="020B0609020000020004" pitchFamily="49" charset="0"/>
              </a:rPr>
              <a:t>Context window = </a:t>
            </a:r>
            <a:r>
              <a:rPr lang="en-US" b="1" dirty="0">
                <a:cs typeface="Cascadia Code" panose="020B0609020000020004" pitchFamily="49" charset="0"/>
              </a:rPr>
              <a:t>8,000 tokens</a:t>
            </a:r>
          </a:p>
          <a:p>
            <a:pPr lvl="1"/>
            <a:endParaRPr lang="en-US" dirty="0">
              <a:cs typeface="Cascadia Code" panose="020B0609020000020004" pitchFamily="49" charset="0"/>
            </a:endParaRPr>
          </a:p>
          <a:p>
            <a:pPr marL="457200" lvl="1" indent="0">
              <a:buNone/>
            </a:pPr>
            <a:r>
              <a:rPr lang="en-IN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System Prompt      200 tokens</a:t>
            </a:r>
          </a:p>
          <a:p>
            <a:pPr marL="457200" lvl="1" indent="0">
              <a:buNone/>
            </a:pPr>
            <a:r>
              <a:rPr lang="en-IN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User Question      100 tokens</a:t>
            </a:r>
          </a:p>
          <a:p>
            <a:pPr marL="457200" lvl="1" indent="0">
              <a:buNone/>
            </a:pPr>
            <a:r>
              <a:rPr lang="en-IN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RAG Documents    3,000 tokens</a:t>
            </a:r>
          </a:p>
          <a:p>
            <a:pPr marL="457200" lvl="1" indent="0">
              <a:buNone/>
            </a:pPr>
            <a:r>
              <a:rPr lang="en-IN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Conversation     1,000 tokens</a:t>
            </a:r>
          </a:p>
          <a:p>
            <a:pPr marL="457200" lvl="1" indent="0">
              <a:buNone/>
            </a:pPr>
            <a:r>
              <a:rPr lang="en-IN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--------------------------------</a:t>
            </a:r>
          </a:p>
          <a:p>
            <a:pPr marL="457200" lvl="1" indent="0">
              <a:buNone/>
            </a:pPr>
            <a:r>
              <a:rPr lang="en-IN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Total            4,300 tokens</a:t>
            </a:r>
          </a:p>
          <a:p>
            <a:endParaRPr lang="en-US" dirty="0"/>
          </a:p>
          <a:p>
            <a:r>
              <a:rPr lang="en-US" dirty="0"/>
              <a:t>Remaining space for output:</a:t>
            </a:r>
          </a:p>
          <a:p>
            <a:pPr marL="457200" lvl="1" indent="0">
              <a:buNone/>
            </a:pP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8,000 - 4,300 = 3,700 tokens</a:t>
            </a:r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086889-0815-B94D-4189-551211525538}"/>
              </a:ext>
            </a:extLst>
          </p:cNvPr>
          <p:cNvSpPr txBox="1">
            <a:spLocks/>
          </p:cNvSpPr>
          <p:nvPr/>
        </p:nvSpPr>
        <p:spPr>
          <a:xfrm>
            <a:off x="5872480" y="1825625"/>
            <a:ext cx="54813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Key Limitation</a:t>
            </a:r>
          </a:p>
          <a:p>
            <a:pPr lvl="1"/>
            <a:r>
              <a:rPr lang="en-US" dirty="0"/>
              <a:t>LLMs </a:t>
            </a:r>
            <a:r>
              <a:rPr lang="en-US" b="1" dirty="0"/>
              <a:t>cannot remember information outside the context window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That’s why we need techniques like:</a:t>
            </a:r>
          </a:p>
          <a:p>
            <a:pPr lvl="2"/>
            <a:r>
              <a:rPr lang="en-US" b="1" dirty="0"/>
              <a:t>RAG</a:t>
            </a:r>
            <a:endParaRPr lang="en-US" dirty="0"/>
          </a:p>
          <a:p>
            <a:pPr lvl="2"/>
            <a:r>
              <a:rPr lang="en-US" b="1" dirty="0"/>
              <a:t>Memory summarization</a:t>
            </a:r>
            <a:endParaRPr lang="en-US" dirty="0"/>
          </a:p>
          <a:p>
            <a:pPr lvl="2"/>
            <a:r>
              <a:rPr lang="en-US" b="1" dirty="0"/>
              <a:t>Chunking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1540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2785F-81FD-C655-35BF-81CC0839F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F8222-885D-EC9D-6A21-A601A88CE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Inference</a:t>
            </a:r>
            <a:r>
              <a:rPr lang="en-US" dirty="0"/>
              <a:t> refers to how the Model Generates Answers</a:t>
            </a:r>
          </a:p>
          <a:p>
            <a:r>
              <a:rPr lang="en-US" b="1" dirty="0"/>
              <a:t>Inference</a:t>
            </a:r>
            <a:r>
              <a:rPr lang="en-US" dirty="0"/>
              <a:t> is the process of generating the next token based on probability.</a:t>
            </a:r>
          </a:p>
          <a:p>
            <a:endParaRPr lang="en-US" dirty="0"/>
          </a:p>
          <a:p>
            <a:r>
              <a:rPr lang="en-US" b="1" dirty="0"/>
              <a:t>How it Works</a:t>
            </a:r>
          </a:p>
          <a:p>
            <a:pPr lvl="1"/>
            <a:r>
              <a:rPr lang="en-US" dirty="0"/>
              <a:t>Step 1 — Model reads prompt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Explain what artificial intelligence is.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Step 2 — Model predicts the </a:t>
            </a:r>
            <a:r>
              <a:rPr lang="en-US" b="1" dirty="0"/>
              <a:t>most probable next token. </a:t>
            </a:r>
            <a:r>
              <a:rPr lang="en-US" dirty="0"/>
              <a:t>Example: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Artificial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Step 3 — Then predicts the next token again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Artificial intelligence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Step 4 — Continue until response completes.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This process is called Autoregressive generation</a:t>
            </a:r>
          </a:p>
          <a:p>
            <a:pPr lvl="1"/>
            <a:r>
              <a:rPr lang="en-US" dirty="0"/>
              <a:t>Meaning: Each new token depends on previous tokens.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7971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588FD-6047-6AC8-27DB-FBAF9A4E6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9C8FC-671A-8E20-88E2-E04269092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808C9-EEC6-185A-4584-7435ACB70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Simplified Flow</a:t>
            </a:r>
          </a:p>
          <a:p>
            <a:endParaRPr lang="en-IN" dirty="0"/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Input Prompt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     ↓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Tokenization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     ↓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Neural Network Processing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     ↓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Probability Distribution for Next Token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     ↓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Token Sampling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     ↓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Append Token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     ↓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Repeat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92044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345DF-B5C2-544E-0BFD-5315ECB71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B6A5C-B069-7DD3-B793-B6FC638F9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Sampling</a:t>
            </a:r>
            <a:r>
              <a:rPr lang="en-US" dirty="0"/>
              <a:t>: The reason why Responses Can Change</a:t>
            </a:r>
          </a:p>
          <a:p>
            <a:r>
              <a:rPr lang="en-US" dirty="0"/>
              <a:t>When generating tokens, the model may choose:</a:t>
            </a:r>
          </a:p>
          <a:p>
            <a:pPr lvl="1"/>
            <a:r>
              <a:rPr lang="en-US" b="1" dirty="0"/>
              <a:t>Most probable token</a:t>
            </a:r>
            <a:endParaRPr lang="en-US" dirty="0"/>
          </a:p>
          <a:p>
            <a:pPr lvl="1"/>
            <a:r>
              <a:rPr lang="en-US" b="1" dirty="0"/>
              <a:t>Random token from top probabilities</a:t>
            </a:r>
            <a:endParaRPr lang="en-US" dirty="0"/>
          </a:p>
          <a:p>
            <a:endParaRPr lang="en-US" dirty="0"/>
          </a:p>
          <a:p>
            <a:r>
              <a:rPr lang="en-US" dirty="0"/>
              <a:t>Controlled using parameters.</a:t>
            </a:r>
          </a:p>
          <a:p>
            <a:pPr lvl="1"/>
            <a:r>
              <a:rPr lang="en-US" b="1" dirty="0"/>
              <a:t>Temperature</a:t>
            </a:r>
          </a:p>
          <a:p>
            <a:pPr lvl="1"/>
            <a:r>
              <a:rPr lang="en-US" b="1" dirty="0"/>
              <a:t>Top-p (nucleus sampling)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12006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D15D4-7F22-C118-512B-5A49EDD41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A42CE-BBED-05DF-39AE-9776A2BE6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7AAC5-1CAE-0204-0E04-F5AD3F9A4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Important Parameters: Temperature</a:t>
            </a:r>
            <a:endParaRPr lang="en-US" dirty="0"/>
          </a:p>
          <a:p>
            <a:pPr lvl="2"/>
            <a:r>
              <a:rPr lang="en-US" dirty="0"/>
              <a:t>Controls randomness.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Important Parameters: Top-p (a.k.a. nucleus sampling)</a:t>
            </a:r>
            <a:endParaRPr lang="en-US" dirty="0"/>
          </a:p>
          <a:p>
            <a:pPr lvl="1"/>
            <a:r>
              <a:rPr lang="en-US" dirty="0"/>
              <a:t>It is a parameter in language models that controls output diversity by limiting token selection to those covering a specific cumulative probability "mass." </a:t>
            </a:r>
          </a:p>
          <a:p>
            <a:pPr lvl="1"/>
            <a:r>
              <a:rPr lang="en-US" dirty="0"/>
              <a:t>When set to 0.9, it means the model picks the next token only from the smallest possible set of candidates whose combined probabilities add up to at least 90% of the total probability distribution.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32FD1B-C0B9-E0AE-0C43-B281F11CF199}"/>
              </a:ext>
            </a:extLst>
          </p:cNvPr>
          <p:cNvGraphicFramePr>
            <a:graphicFrameLocks noGrp="1"/>
          </p:cNvGraphicFramePr>
          <p:nvPr/>
        </p:nvGraphicFramePr>
        <p:xfrm>
          <a:off x="6715760" y="1825625"/>
          <a:ext cx="4638040" cy="182880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2319020">
                  <a:extLst>
                    <a:ext uri="{9D8B030D-6E8A-4147-A177-3AD203B41FA5}">
                      <a16:colId xmlns:a16="http://schemas.microsoft.com/office/drawing/2014/main" val="686595381"/>
                    </a:ext>
                  </a:extLst>
                </a:gridCol>
                <a:gridCol w="2319020">
                  <a:extLst>
                    <a:ext uri="{9D8B030D-6E8A-4147-A177-3AD203B41FA5}">
                      <a16:colId xmlns:a16="http://schemas.microsoft.com/office/drawing/2014/main" val="35701640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Behavior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6192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deterministic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2645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4390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balanced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6602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creative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3336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3323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BE0FE-2569-970C-AED5-49399B052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B67C2-A879-9CF6-E414-4D1AA7CBC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D9852-3BA7-8EC8-F9A9-9A6B27F96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How </a:t>
            </a:r>
            <a:r>
              <a:rPr lang="en-US" b="1" dirty="0"/>
              <a:t>top-p</a:t>
            </a:r>
            <a:r>
              <a:rPr lang="en-US" dirty="0"/>
              <a:t> works:</a:t>
            </a:r>
          </a:p>
          <a:p>
            <a:pPr lvl="1"/>
            <a:r>
              <a:rPr lang="en-US" dirty="0"/>
              <a:t>The model first generates probabilities for all possible next tokens</a:t>
            </a:r>
          </a:p>
          <a:p>
            <a:pPr lvl="1"/>
            <a:r>
              <a:rPr lang="en-US" dirty="0"/>
              <a:t>Then, sorts them from highest to lowest, and </a:t>
            </a:r>
          </a:p>
          <a:p>
            <a:pPr lvl="1"/>
            <a:r>
              <a:rPr lang="en-US" dirty="0"/>
              <a:t>Accumulates until reaching the top-p threshold (e.g., 0.9). </a:t>
            </a:r>
          </a:p>
          <a:p>
            <a:pPr lvl="1"/>
            <a:r>
              <a:rPr lang="en-US" dirty="0"/>
              <a:t>It then samples randomly from just those tokens and </a:t>
            </a:r>
          </a:p>
          <a:p>
            <a:pPr lvl="1"/>
            <a:r>
              <a:rPr lang="en-US" dirty="0"/>
              <a:t>Normalizes their probabilities to sum to 1.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For example, </a:t>
            </a:r>
          </a:p>
          <a:p>
            <a:pPr marL="914400" lvl="2" indent="0">
              <a:buNone/>
            </a:pPr>
            <a:r>
              <a:rPr lang="en-US" dirty="0"/>
              <a:t>with 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probabilities [0.4, 0.3, 0.2, 0.05, 0.05]</a:t>
            </a:r>
          </a:p>
          <a:p>
            <a:pPr marL="914400" lvl="2" indent="0">
              <a:buNone/>
            </a:pPr>
            <a:r>
              <a:rPr lang="en-US" dirty="0"/>
              <a:t>top-p=0.9 includes 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[0.4, 0.3, 0.2] </a:t>
            </a:r>
            <a:r>
              <a:rPr lang="en-US" dirty="0"/>
              <a:t>since they sum to 0.9</a:t>
            </a:r>
          </a:p>
          <a:p>
            <a:endParaRPr lang="en-US" dirty="0"/>
          </a:p>
          <a:p>
            <a:r>
              <a:rPr lang="en-US" dirty="0"/>
              <a:t>Practical Effects</a:t>
            </a:r>
          </a:p>
          <a:p>
            <a:pPr lvl="1"/>
            <a:r>
              <a:rPr lang="en-US" dirty="0"/>
              <a:t>Lower top-p (e.g., 0.1) keeps output focused by using few high-confidence tokens.</a:t>
            </a:r>
          </a:p>
          <a:p>
            <a:pPr lvl="1"/>
            <a:r>
              <a:rPr lang="en-US" dirty="0"/>
              <a:t>While higher values like 0.9 increase creativity without including nonsense.</a:t>
            </a:r>
          </a:p>
          <a:p>
            <a:endParaRPr lang="en-US" dirty="0"/>
          </a:p>
          <a:p>
            <a:r>
              <a:rPr lang="en-US" dirty="0"/>
              <a:t>It's often used with temperature but not both at once for best results.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03586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8F8EC-F1FC-3BDF-2A10-8AB0DF0A3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1139F-7C21-D9D6-A002-33A8D3968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LLMs work using three core mechanisms:</a:t>
            </a:r>
          </a:p>
          <a:p>
            <a:pPr lvl="1"/>
            <a:r>
              <a:rPr lang="en-US" b="1" dirty="0"/>
              <a:t>Tokens</a:t>
            </a:r>
          </a:p>
          <a:p>
            <a:pPr marL="457200" lvl="1" indent="0">
              <a:buNone/>
            </a:pPr>
            <a:r>
              <a:rPr lang="en-US" dirty="0"/>
              <a:t>Text is broken into small units.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Context Window</a:t>
            </a:r>
          </a:p>
          <a:p>
            <a:pPr marL="457200" lvl="1" indent="0">
              <a:buNone/>
            </a:pPr>
            <a:r>
              <a:rPr lang="en-US" dirty="0"/>
              <a:t>Maximum tokens the model can read at once.</a:t>
            </a:r>
          </a:p>
          <a:p>
            <a:endParaRPr lang="en-US" b="1" dirty="0"/>
          </a:p>
          <a:p>
            <a:pPr lvl="1"/>
            <a:r>
              <a:rPr lang="en-US" b="1" dirty="0"/>
              <a:t>Inference</a:t>
            </a:r>
          </a:p>
          <a:p>
            <a:pPr lvl="1"/>
            <a:r>
              <a:rPr lang="en-US" dirty="0"/>
              <a:t>The model predicts the </a:t>
            </a:r>
            <a:r>
              <a:rPr lang="en-US" b="1" dirty="0"/>
              <a:t>next token repeatedly</a:t>
            </a:r>
            <a:r>
              <a:rPr lang="en-US" dirty="0"/>
              <a:t> to generate responses.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38362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3B0F9-9C0A-E8A3-DEEE-0D43A1891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BD0C3-1C86-6EF9-9134-F2988778C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Tokenization</a:t>
            </a:r>
          </a:p>
          <a:p>
            <a:r>
              <a:rPr lang="en-US" dirty="0"/>
              <a:t>Attention intuition</a:t>
            </a:r>
          </a:p>
          <a:p>
            <a:r>
              <a:rPr lang="en-US" dirty="0"/>
              <a:t>Visual attention heatmap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84203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6483E5-DC36-CB4A-F00E-D28A8774E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7C95C2-C04C-88A1-508F-D35520E22B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33168E-7F76-CD5C-925B-8E6857AB6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8000" dirty="0"/>
              <a:t>Capabilities vs Limitations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38010762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5D59A-F11C-0D91-5BAC-EDE26D7F6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Capabilities vs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CE838-46CD-051D-3D27-14890EFC8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785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/>
              <a:t>Capabilities:</a:t>
            </a:r>
          </a:p>
          <a:p>
            <a:pPr lvl="1"/>
            <a:r>
              <a:rPr lang="en-US" b="1" dirty="0"/>
              <a:t>What LLMs are good at:</a:t>
            </a:r>
          </a:p>
          <a:p>
            <a:pPr lvl="2"/>
            <a:r>
              <a:rPr lang="en-US" dirty="0"/>
              <a:t>Summarization </a:t>
            </a:r>
          </a:p>
          <a:p>
            <a:pPr lvl="2"/>
            <a:r>
              <a:rPr lang="en-US" dirty="0"/>
              <a:t>Content generation </a:t>
            </a:r>
          </a:p>
          <a:p>
            <a:pPr lvl="2"/>
            <a:r>
              <a:rPr lang="en-US" dirty="0"/>
              <a:t>Pattern recognition </a:t>
            </a:r>
          </a:p>
          <a:p>
            <a:pPr lvl="2"/>
            <a:r>
              <a:rPr lang="en-US" dirty="0"/>
              <a:t>Drafting emails/reports </a:t>
            </a:r>
          </a:p>
          <a:p>
            <a:pPr lvl="2"/>
            <a:r>
              <a:rPr lang="en-US" dirty="0"/>
              <a:t>Idea generation </a:t>
            </a:r>
          </a:p>
          <a:p>
            <a:pPr lvl="2"/>
            <a:endParaRPr lang="en-US" b="1" dirty="0"/>
          </a:p>
          <a:p>
            <a:pPr lvl="2"/>
            <a:r>
              <a:rPr lang="en-US" b="1" dirty="0"/>
              <a:t>Example</a:t>
            </a:r>
          </a:p>
          <a:p>
            <a:pPr marL="1371600" lvl="3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“Summarize this 10-page audit report into key risks and actions”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5670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0A72D-8E59-549F-5764-3518BE3D3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344E4-9DE1-BC58-1E17-CFBD994E8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Capabilities vs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62162-EA2B-3E07-6EF4-DFC8228A4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78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Limitations:</a:t>
            </a:r>
          </a:p>
          <a:p>
            <a:pPr marL="457200" lvl="1" indent="0">
              <a:buNone/>
            </a:pPr>
            <a:r>
              <a:rPr lang="en-US" sz="2000" b="1" dirty="0"/>
              <a:t>1. Hallucination (Confidently wrong)</a:t>
            </a:r>
          </a:p>
          <a:p>
            <a:pPr lvl="2"/>
            <a:r>
              <a:rPr lang="en-US" sz="2200" dirty="0"/>
              <a:t>Model may make up facts </a:t>
            </a:r>
          </a:p>
          <a:p>
            <a:pPr lvl="2"/>
            <a:r>
              <a:rPr lang="en-US" sz="2200" dirty="0"/>
              <a:t>Example:</a:t>
            </a:r>
          </a:p>
          <a:p>
            <a:pPr marL="1371600" lvl="3" indent="0">
              <a:buNone/>
            </a:pPr>
            <a:r>
              <a:rPr lang="en-US" sz="2200" dirty="0">
                <a:latin typeface="Cascadia Code" panose="020B0609020000020004" pitchFamily="49" charset="0"/>
                <a:cs typeface="Cascadia Code" panose="020B0609020000020004" pitchFamily="49" charset="0"/>
              </a:rPr>
              <a:t>“This company follows IFRS 18…”</a:t>
            </a:r>
            <a:r>
              <a:rPr lang="en-US" sz="2200" dirty="0">
                <a:cs typeface="Cascadia Code" panose="020B0609020000020004" pitchFamily="49" charset="0"/>
              </a:rPr>
              <a:t> (</a:t>
            </a:r>
            <a:r>
              <a:rPr lang="en-US" sz="2200" i="1" dirty="0">
                <a:cs typeface="Cascadia Code" panose="020B0609020000020004" pitchFamily="49" charset="0"/>
              </a:rPr>
              <a:t>even if it doesn’t exist</a:t>
            </a:r>
            <a:r>
              <a:rPr lang="en-US" sz="2200" dirty="0">
                <a:cs typeface="Cascadia Code" panose="020B0609020000020004" pitchFamily="49" charset="0"/>
              </a:rPr>
              <a:t>)</a:t>
            </a:r>
          </a:p>
          <a:p>
            <a:pPr marL="1371600" lvl="3" indent="0">
              <a:buNone/>
            </a:pPr>
            <a:r>
              <a:rPr lang="en-US" sz="2200" dirty="0">
                <a:latin typeface="Cascadia Code" panose="020B0609020000020004" pitchFamily="49" charset="0"/>
                <a:cs typeface="Cascadia Code" panose="020B0609020000020004" pitchFamily="49" charset="0"/>
              </a:rPr>
              <a:t>“Who won the latest Insurance Regulatory Innovation Award in India in 2026?”</a:t>
            </a:r>
          </a:p>
          <a:p>
            <a:pPr marL="1371600" lvl="3" indent="0">
              <a:buNone/>
            </a:pPr>
            <a:endParaRPr lang="en-US" sz="2200" b="1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000" b="1" dirty="0"/>
              <a:t>2. Reliability issues</a:t>
            </a:r>
          </a:p>
          <a:p>
            <a:pPr lvl="2"/>
            <a:r>
              <a:rPr lang="en-US" sz="2200" dirty="0"/>
              <a:t>Same prompt → slightly different answers </a:t>
            </a:r>
          </a:p>
          <a:p>
            <a:pPr lvl="2"/>
            <a:endParaRPr lang="en-US" sz="22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000" b="1" dirty="0"/>
              <a:t>3. No real-world awareness (unless connected)</a:t>
            </a:r>
          </a:p>
          <a:p>
            <a:pPr lvl="2"/>
            <a:r>
              <a:rPr lang="en-US" sz="2200" dirty="0"/>
              <a:t>Doesn’t know current data unless provided</a:t>
            </a:r>
          </a:p>
          <a:p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30313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135BF7-1397-ECEB-F813-3FED2185E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236CD80-0A59-37C8-1A6B-D4272D3C1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E99FDE-8C19-6248-25FC-5DA046C4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8000" dirty="0"/>
              <a:t>Context Engineering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23086844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77A7F-AE05-1115-8242-024D90609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5FFF4-6882-ACE0-694D-192F037A7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Core Idea</a:t>
            </a:r>
          </a:p>
          <a:p>
            <a:pPr lvl="1"/>
            <a:r>
              <a:rPr lang="en-US" dirty="0"/>
              <a:t>Better input → Better output</a:t>
            </a:r>
          </a:p>
          <a:p>
            <a:br>
              <a:rPr lang="en-US" dirty="0"/>
            </a:br>
            <a:r>
              <a:rPr lang="en-US" b="1" dirty="0"/>
              <a:t>Components of Good Context</a:t>
            </a:r>
          </a:p>
          <a:p>
            <a:pPr marL="457200" lvl="1" indent="0">
              <a:buNone/>
            </a:pPr>
            <a:r>
              <a:rPr lang="en-US" b="1" dirty="0"/>
              <a:t>1. Instructions (What to do)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“Act as a senior audit manager”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b="1" dirty="0"/>
              <a:t>2. Constraints (Boundaries)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“Limit to 5 bullet points”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“Do not assume missing data”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b="1" dirty="0"/>
              <a:t>3. Examples (Guidance)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“Here is a good summary format…”</a:t>
            </a:r>
          </a:p>
          <a:p>
            <a:pPr marL="457200" lvl="1" indent="0">
              <a:buNone/>
            </a:pPr>
            <a:endParaRPr lang="en-US" b="1" dirty="0"/>
          </a:p>
          <a:p>
            <a:pPr marL="457200" lvl="1" indent="0">
              <a:buNone/>
            </a:pPr>
            <a:r>
              <a:rPr lang="en-US" b="1" dirty="0"/>
              <a:t>4. Input Data</a:t>
            </a:r>
          </a:p>
          <a:p>
            <a:pPr lvl="1"/>
            <a:r>
              <a:rPr lang="en-US" dirty="0"/>
              <a:t>Actual report, claim, or dataset</a:t>
            </a:r>
          </a:p>
          <a:p>
            <a:endParaRPr lang="en-US" b="1" dirty="0"/>
          </a:p>
          <a:p>
            <a:r>
              <a:rPr lang="en-US" b="1" dirty="0"/>
              <a:t>Simple Formula</a:t>
            </a:r>
          </a:p>
          <a:p>
            <a:pPr lvl="1"/>
            <a:r>
              <a:rPr lang="en-US" b="1" dirty="0"/>
              <a:t>Great Output = Role + Task + Constraints + Context + Examples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79863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71C85-954D-12F6-09F4-3D8CE3181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8DAE8-06A5-C262-B312-7F3EEAA57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EDC7F-AACC-213E-F11A-8C8C62E84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Before vs After Example</a:t>
            </a:r>
          </a:p>
          <a:p>
            <a:pPr lvl="1"/>
            <a:r>
              <a:rPr lang="en-US" dirty="0"/>
              <a:t>Weak Prompt: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“Analyze this report”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Strong Prompt: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“Act as a senior internal auditor.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Analyze this report and provide: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- Top 3 risks 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- Control gaps 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- Recommended actions</a:t>
            </a:r>
          </a:p>
          <a:p>
            <a:pPr lvl="2">
              <a:buFontTx/>
              <a:buChar char="-"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Limit to 150 words.”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40072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BD8FA-D6FB-B78D-9AC5-46F74613A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78921-4646-B311-CB3D-7D47E24E1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Tokens, Embeddings, Visualization</a:t>
            </a:r>
          </a:p>
          <a:p>
            <a:pPr marL="514350" indent="-514350">
              <a:buAutoNum type="arabicPeriod"/>
            </a:pPr>
            <a:r>
              <a:rPr lang="en-US" dirty="0"/>
              <a:t>LLM Interaction Basics</a:t>
            </a:r>
          </a:p>
          <a:p>
            <a:pPr marL="514350" indent="-514350">
              <a:buAutoNum type="arabicPeriod"/>
            </a:pPr>
            <a:r>
              <a:rPr lang="en-US" dirty="0"/>
              <a:t>Embeddings in Practice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72367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E49277-39ED-4584-765B-EFC8D1F6E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2E1FC05-D733-D979-E08A-7D0741EB2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371E33-6AB9-85C0-4FA4-323054936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8000" dirty="0"/>
              <a:t>Robust Gen AI Calls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16798725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0BB5E-4C6F-6776-66FA-F886F4EC2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76380-30C9-E56F-A5A7-577AF57C2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Robust Gen AI Calls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22AC8-EFC5-CC65-DB9C-88E2DD36C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Handling errors​</a:t>
            </a:r>
          </a:p>
          <a:p>
            <a:pPr lvl="0"/>
            <a:r>
              <a:rPr lang="en-IN" dirty="0"/>
              <a:t>Retries and fallbacks​</a:t>
            </a:r>
          </a:p>
          <a:p>
            <a:pPr lvl="0"/>
            <a:r>
              <a:rPr lang="en-IN" dirty="0"/>
              <a:t>Logging prompts and responses</a:t>
            </a:r>
          </a:p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50458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67838-4FF7-9FD1-BFBF-F2BBF29E3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8924A-480B-6047-B696-BD8EA9115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E7C65-90B6-598E-520F-83B9E450F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Logging, Audit Trail, Fallback</a:t>
            </a:r>
          </a:p>
          <a:p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56201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8005B3-A524-0CC8-3F76-4B497B989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EA0CC4B-8A3C-74DA-BD0E-5E4B03959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A3311C-34E0-D614-404B-6032407FC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8000" dirty="0"/>
              <a:t>Text Generation Pipeline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9608266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FA071-07DF-5C0C-7867-154401E19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CE0B8-3CCF-4BD6-8665-54B165469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6169A-4D1C-ECA2-D31F-2300022F5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generation pipeline</a:t>
            </a:r>
          </a:p>
          <a:p>
            <a:r>
              <a:rPr lang="en-US" dirty="0"/>
              <a:t>Embedding pipeline</a:t>
            </a:r>
          </a:p>
          <a:p>
            <a:r>
              <a:rPr lang="en-US" dirty="0"/>
              <a:t>Input/output handling</a:t>
            </a:r>
          </a:p>
          <a:p>
            <a:r>
              <a:rPr lang="en-US" dirty="0"/>
              <a:t>High-level model parameters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39116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7E9F0-2243-07CD-68C1-BF25CD57D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92F7C-97C9-BC61-844A-CC5C0164F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332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1739</Words>
  <Application>Microsoft Office PowerPoint</Application>
  <PresentationFormat>Widescreen</PresentationFormat>
  <Paragraphs>381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Aptos</vt:lpstr>
      <vt:lpstr>Aptos Display</vt:lpstr>
      <vt:lpstr>Arial</vt:lpstr>
      <vt:lpstr>Barlow Bold</vt:lpstr>
      <vt:lpstr>Cascadia Code</vt:lpstr>
      <vt:lpstr>Lora</vt:lpstr>
      <vt:lpstr>Neue Haas Grotesk Text Pro</vt:lpstr>
      <vt:lpstr>Office Theme</vt:lpstr>
      <vt:lpstr>Python Enablement for GenAI</vt:lpstr>
      <vt:lpstr>PowerPoint Presentation</vt:lpstr>
      <vt:lpstr>LLM Interaction Basics</vt:lpstr>
      <vt:lpstr>Agenda</vt:lpstr>
      <vt:lpstr>Prompt Structure</vt:lpstr>
      <vt:lpstr>What is Prompt Structure?</vt:lpstr>
      <vt:lpstr>Core Components of a Prompt</vt:lpstr>
      <vt:lpstr>Core Components of a Prompt</vt:lpstr>
      <vt:lpstr>Putting It All Together (Structured Prompt)</vt:lpstr>
      <vt:lpstr>LLM Intuition</vt:lpstr>
      <vt:lpstr>LLM Intuition</vt:lpstr>
      <vt:lpstr>LLM Intuition</vt:lpstr>
      <vt:lpstr>LLM Intuition</vt:lpstr>
      <vt:lpstr>LLM Intuition</vt:lpstr>
      <vt:lpstr>LLM Internals</vt:lpstr>
      <vt:lpstr>LLM Internals Recap </vt:lpstr>
      <vt:lpstr>Tokens</vt:lpstr>
      <vt:lpstr>Tokens</vt:lpstr>
      <vt:lpstr>Context Window</vt:lpstr>
      <vt:lpstr>Context Window</vt:lpstr>
      <vt:lpstr>Inference</vt:lpstr>
      <vt:lpstr>Inference</vt:lpstr>
      <vt:lpstr>Sampling</vt:lpstr>
      <vt:lpstr>Sampling</vt:lpstr>
      <vt:lpstr>Sampling</vt:lpstr>
      <vt:lpstr>Summary</vt:lpstr>
      <vt:lpstr>Demo</vt:lpstr>
      <vt:lpstr>Capabilities vs Limitations</vt:lpstr>
      <vt:lpstr>Capabilities vs Limitations</vt:lpstr>
      <vt:lpstr>Capabilities vs Limitations</vt:lpstr>
      <vt:lpstr>Context Engineering</vt:lpstr>
      <vt:lpstr>Context Engineering</vt:lpstr>
      <vt:lpstr>Context Engineering</vt:lpstr>
      <vt:lpstr>Demo</vt:lpstr>
      <vt:lpstr>Robust Gen AI Calls</vt:lpstr>
      <vt:lpstr>Robust Gen AI Calls</vt:lpstr>
      <vt:lpstr>Demo</vt:lpstr>
      <vt:lpstr>Text Generation Pipeline</vt:lpstr>
      <vt:lpstr>Demo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Singala</dc:creator>
  <cp:lastModifiedBy>Ajay Singala</cp:lastModifiedBy>
  <cp:revision>49</cp:revision>
  <dcterms:created xsi:type="dcterms:W3CDTF">2026-03-29T13:30:12Z</dcterms:created>
  <dcterms:modified xsi:type="dcterms:W3CDTF">2026-04-20T04:51:44Z</dcterms:modified>
</cp:coreProperties>
</file>